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85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10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24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" y="0"/>
            <a:ext cx="9086850" cy="9429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" y="914400"/>
            <a:ext cx="9086850" cy="28575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85775" y="285750"/>
            <a:ext cx="8229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Desafio de Negócio: Fragmentação de Dados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85775" y="1271588"/>
            <a:ext cx="1310013" cy="314325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85775" y="1271588"/>
            <a:ext cx="1310013" cy="314325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 Principal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664369" y="1707437"/>
            <a:ext cx="13230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Fragmentação de Dados:</a:t>
            </a:r>
            <a:endParaRPr lang="en-US" sz="785" dirty="0"/>
          </a:p>
        </p:txBody>
      </p:sp>
      <p:sp>
        <p:nvSpPr>
          <p:cNvPr id="9" name="Text 6"/>
          <p:cNvSpPr/>
          <p:nvPr/>
        </p:nvSpPr>
        <p:spPr>
          <a:xfrm>
            <a:off x="664369" y="1841302"/>
            <a:ext cx="7813951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Dados dispersos entre sistemas legados (SAP ECC) e plataformas digitais (e-commerce, mobile) impedem uma visão unificada do cliente e a tomada de decisões ágil</a:t>
            </a:r>
            <a:endParaRPr lang="en-US" sz="785" dirty="0"/>
          </a:p>
        </p:txBody>
      </p:sp>
      <p:sp>
        <p:nvSpPr>
          <p:cNvPr id="10" name="Shape 7"/>
          <p:cNvSpPr/>
          <p:nvPr/>
        </p:nvSpPr>
        <p:spPr>
          <a:xfrm>
            <a:off x="485774" y="2272087"/>
            <a:ext cx="1542045" cy="314325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85773" y="2272087"/>
            <a:ext cx="1542045" cy="314325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Impactos Operacionais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664369" y="2710805"/>
            <a:ext cx="161153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Impossibilidade de Visão 360°:</a:t>
            </a:r>
            <a:endParaRPr lang="en-US" sz="785" dirty="0"/>
          </a:p>
        </p:txBody>
      </p:sp>
      <p:sp>
        <p:nvSpPr>
          <p:cNvPr id="13" name="Text 10"/>
          <p:cNvSpPr/>
          <p:nvPr/>
        </p:nvSpPr>
        <p:spPr>
          <a:xfrm>
            <a:off x="2275898" y="2710805"/>
            <a:ext cx="26861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Falta de integração de dados de clientes entre canais</a:t>
            </a:r>
            <a:endParaRPr lang="en-US" sz="785" dirty="0"/>
          </a:p>
        </p:txBody>
      </p:sp>
      <p:sp>
        <p:nvSpPr>
          <p:cNvPr id="14" name="Text 11"/>
          <p:cNvSpPr/>
          <p:nvPr/>
        </p:nvSpPr>
        <p:spPr>
          <a:xfrm>
            <a:off x="664369" y="3017987"/>
            <a:ext cx="13358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Personalização Limitada:</a:t>
            </a:r>
            <a:endParaRPr lang="en-US" sz="785" dirty="0"/>
          </a:p>
        </p:txBody>
      </p:sp>
      <p:sp>
        <p:nvSpPr>
          <p:cNvPr id="15" name="Text 12"/>
          <p:cNvSpPr/>
          <p:nvPr/>
        </p:nvSpPr>
        <p:spPr>
          <a:xfrm>
            <a:off x="2000194" y="3017987"/>
            <a:ext cx="429130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Dificuldade em oferecer recomendações e promoções personalizadas em tempo real</a:t>
            </a:r>
            <a:endParaRPr lang="en-US" sz="785" dirty="0"/>
          </a:p>
        </p:txBody>
      </p:sp>
      <p:sp>
        <p:nvSpPr>
          <p:cNvPr id="16" name="Text 13"/>
          <p:cNvSpPr/>
          <p:nvPr/>
        </p:nvSpPr>
        <p:spPr>
          <a:xfrm>
            <a:off x="664369" y="3325168"/>
            <a:ext cx="207701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Ineficiência na Cadeia de Suprimentos:</a:t>
            </a:r>
            <a:endParaRPr lang="en-US" sz="785" dirty="0"/>
          </a:p>
        </p:txBody>
      </p:sp>
      <p:sp>
        <p:nvSpPr>
          <p:cNvPr id="17" name="Text 14"/>
          <p:cNvSpPr/>
          <p:nvPr/>
        </p:nvSpPr>
        <p:spPr>
          <a:xfrm>
            <a:off x="2741386" y="3325168"/>
            <a:ext cx="324781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Gestão de estoque deficiente e falta de otimização de processos</a:t>
            </a:r>
            <a:endParaRPr lang="en-US" sz="785" dirty="0"/>
          </a:p>
        </p:txBody>
      </p:sp>
      <p:sp>
        <p:nvSpPr>
          <p:cNvPr id="18" name="Text 15"/>
          <p:cNvSpPr/>
          <p:nvPr/>
        </p:nvSpPr>
        <p:spPr>
          <a:xfrm>
            <a:off x="664369" y="3632349"/>
            <a:ext cx="16973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Perda de Receita e Insatisfação:</a:t>
            </a:r>
            <a:endParaRPr lang="en-US" sz="785" dirty="0"/>
          </a:p>
        </p:txBody>
      </p:sp>
      <p:sp>
        <p:nvSpPr>
          <p:cNvPr id="19" name="Text 16"/>
          <p:cNvSpPr/>
          <p:nvPr/>
        </p:nvSpPr>
        <p:spPr>
          <a:xfrm>
            <a:off x="2361735" y="3632349"/>
            <a:ext cx="348227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Redução de taxas de conversão e aumento da insatisfação do cliente</a:t>
            </a:r>
            <a:endParaRPr lang="en-US" sz="785" dirty="0"/>
          </a:p>
        </p:txBody>
      </p:sp>
      <p:sp>
        <p:nvSpPr>
          <p:cNvPr id="20" name="Shape 17"/>
          <p:cNvSpPr/>
          <p:nvPr/>
        </p:nvSpPr>
        <p:spPr>
          <a:xfrm>
            <a:off x="485775" y="3951668"/>
            <a:ext cx="1357675" cy="314325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85775" y="3959671"/>
            <a:ext cx="1357675" cy="314325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 da Solução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664369" y="4418146"/>
            <a:ext cx="14585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em Tempo Real:</a:t>
            </a:r>
            <a:endParaRPr lang="en-US" sz="785" dirty="0"/>
          </a:p>
        </p:txBody>
      </p:sp>
      <p:sp>
        <p:nvSpPr>
          <p:cNvPr id="23" name="Text 20"/>
          <p:cNvSpPr/>
          <p:nvPr/>
        </p:nvSpPr>
        <p:spPr>
          <a:xfrm>
            <a:off x="2122894" y="4418146"/>
            <a:ext cx="522024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Consolidar dados de todas as fontes para criar uma visão unificada do cliente e suportar decisões ágeis</a:t>
            </a:r>
            <a:endParaRPr lang="en-US" sz="785" dirty="0"/>
          </a:p>
        </p:txBody>
      </p:sp>
      <p:sp>
        <p:nvSpPr>
          <p:cNvPr id="24" name="Text 21"/>
          <p:cNvSpPr/>
          <p:nvPr/>
        </p:nvSpPr>
        <p:spPr>
          <a:xfrm>
            <a:off x="664369" y="4725327"/>
            <a:ext cx="15576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Personalização e Otimização:</a:t>
            </a:r>
            <a:endParaRPr lang="en-US" sz="785" dirty="0"/>
          </a:p>
        </p:txBody>
      </p:sp>
      <p:sp>
        <p:nvSpPr>
          <p:cNvPr id="25" name="Text 22"/>
          <p:cNvSpPr/>
          <p:nvPr/>
        </p:nvSpPr>
        <p:spPr>
          <a:xfrm>
            <a:off x="2222013" y="4725327"/>
            <a:ext cx="52199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Habilitar ofertas personalizadas, otimização da cadeia de suprimentos e crescimento das vendas online</a:t>
            </a:r>
            <a:endParaRPr lang="en-US" sz="7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451" y="1440944"/>
            <a:ext cx="5371767" cy="34641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0"/>
            <a:ext cx="9086850" cy="9429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" y="914400"/>
            <a:ext cx="9086850" cy="28575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85775" y="285750"/>
            <a:ext cx="8229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Arquitetura Proposta: Microsserviços, Data Lake e Integração SAP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8207" y="1109413"/>
            <a:ext cx="3703309" cy="292894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8207" y="1060965"/>
            <a:ext cx="3703309" cy="292894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Componentes Principais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243258" y="1514902"/>
            <a:ext cx="481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Front-end: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736540" y="1514902"/>
            <a:ext cx="206912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Angular SPA (web) + Mobile Apps (iOS/Android)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243258" y="1766718"/>
            <a:ext cx="4249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Backend: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680339" y="1766718"/>
            <a:ext cx="307834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API Gateway + Microsserviços (Java Spring Boot, Python Flask/FastAPI)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243258" y="2030647"/>
            <a:ext cx="7330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SAP: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255370" y="2091207"/>
            <a:ext cx="3417391" cy="28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Serviços especializados via SAP PO/PI ou SAP BTP Integration Suite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243258" y="2440324"/>
            <a:ext cx="30536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Cache: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255370" y="2525108"/>
            <a:ext cx="3244686" cy="28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Redis para armazenar dados frequentemente acessados e otimizar performance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243258" y="2862112"/>
            <a:ext cx="9469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Operacionais: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255370" y="2904504"/>
            <a:ext cx="2906251" cy="28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PostgreSQL/MongoDB para persistência dos microsserviços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243258" y="3296013"/>
            <a:ext cx="7518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Lake + DW: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1007249" y="3296013"/>
            <a:ext cx="24766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GCP/AWS S3 (brutos) + BigQuery/Redshift (estruturados)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243258" y="3547830"/>
            <a:ext cx="69819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Infraestrutura: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255370" y="3584166"/>
            <a:ext cx="3391970" cy="28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Cloud-Native (GCP/AWS) com IAM, OAuth2/JWT, criptografia e WAF</a:t>
            </a:r>
            <a:endParaRPr lang="en-US" sz="680" dirty="0"/>
          </a:p>
        </p:txBody>
      </p:sp>
      <p:sp>
        <p:nvSpPr>
          <p:cNvPr id="23" name="Text 19"/>
          <p:cNvSpPr/>
          <p:nvPr/>
        </p:nvSpPr>
        <p:spPr>
          <a:xfrm>
            <a:off x="4329034" y="4840766"/>
            <a:ext cx="15236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28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Diagrama C4 Model - Nível de Contêiner</a:t>
            </a:r>
            <a:endParaRPr lang="en-US" sz="62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504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0"/>
            <a:ext cx="9086850" cy="9429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" y="914400"/>
            <a:ext cx="9086850" cy="28575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85775" y="285750"/>
            <a:ext cx="8229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Decisões Técnicas, Abordagem TOGAF e Impacto Estratégico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85775" y="1164431"/>
            <a:ext cx="2624128" cy="282178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85775" y="1164431"/>
            <a:ext cx="2624128" cy="28217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Decisões Técnicas-Chave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614363" y="1586919"/>
            <a:ext cx="9377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Microsserviços + APIs:</a:t>
            </a:r>
            <a:endParaRPr lang="en-US" sz="628" dirty="0"/>
          </a:p>
        </p:txBody>
      </p:sp>
      <p:sp>
        <p:nvSpPr>
          <p:cNvPr id="9" name="Text 6"/>
          <p:cNvSpPr/>
          <p:nvPr/>
        </p:nvSpPr>
        <p:spPr>
          <a:xfrm>
            <a:off x="614363" y="1671703"/>
            <a:ext cx="2047215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Escalabilidade, resiliência e desenvolvimento ágil independente</a:t>
            </a:r>
            <a:endParaRPr lang="en-US" sz="628" dirty="0"/>
          </a:p>
        </p:txBody>
      </p:sp>
      <p:sp>
        <p:nvSpPr>
          <p:cNvPr id="10" name="Text 7"/>
          <p:cNvSpPr/>
          <p:nvPr/>
        </p:nvSpPr>
        <p:spPr>
          <a:xfrm>
            <a:off x="614363" y="1946953"/>
            <a:ext cx="6289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Híbrida:</a:t>
            </a:r>
            <a:endParaRPr lang="en-US" sz="628" dirty="0"/>
          </a:p>
        </p:txBody>
      </p:sp>
      <p:sp>
        <p:nvSpPr>
          <p:cNvPr id="11" name="Text 8"/>
          <p:cNvSpPr/>
          <p:nvPr/>
        </p:nvSpPr>
        <p:spPr>
          <a:xfrm>
            <a:off x="614363" y="2031737"/>
            <a:ext cx="2161933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Transacional (tempo real) + Data Lake (análises profundas)</a:t>
            </a:r>
            <a:endParaRPr lang="en-US" sz="628" dirty="0"/>
          </a:p>
        </p:txBody>
      </p:sp>
      <p:sp>
        <p:nvSpPr>
          <p:cNvPr id="12" name="Text 9"/>
          <p:cNvSpPr/>
          <p:nvPr/>
        </p:nvSpPr>
        <p:spPr>
          <a:xfrm>
            <a:off x="614363" y="2306987"/>
            <a:ext cx="7826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Distribuído:</a:t>
            </a:r>
            <a:endParaRPr lang="en-US" sz="628" dirty="0"/>
          </a:p>
        </p:txBody>
      </p:sp>
      <p:sp>
        <p:nvSpPr>
          <p:cNvPr id="13" name="Text 10"/>
          <p:cNvSpPr/>
          <p:nvPr/>
        </p:nvSpPr>
        <p:spPr>
          <a:xfrm>
            <a:off x="614363" y="2391771"/>
            <a:ext cx="2197596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Redis para otimizar performance e reduzir carga no SAP</a:t>
            </a:r>
            <a:endParaRPr lang="en-US" sz="628" dirty="0"/>
          </a:p>
        </p:txBody>
      </p:sp>
      <p:sp>
        <p:nvSpPr>
          <p:cNvPr id="14" name="Text 11"/>
          <p:cNvSpPr/>
          <p:nvPr/>
        </p:nvSpPr>
        <p:spPr>
          <a:xfrm>
            <a:off x="614363" y="2667021"/>
            <a:ext cx="12427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SAP Desacoplada:</a:t>
            </a:r>
            <a:endParaRPr lang="en-US" sz="628" dirty="0"/>
          </a:p>
        </p:txBody>
      </p:sp>
      <p:sp>
        <p:nvSpPr>
          <p:cNvPr id="15" name="Text 12"/>
          <p:cNvSpPr/>
          <p:nvPr/>
        </p:nvSpPr>
        <p:spPr>
          <a:xfrm>
            <a:off x="614363" y="2751805"/>
            <a:ext cx="2250225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Via microsserviços e SAP PO/PI para flexibilidade</a:t>
            </a:r>
            <a:endParaRPr lang="en-US" sz="628" dirty="0"/>
          </a:p>
        </p:txBody>
      </p:sp>
      <p:sp>
        <p:nvSpPr>
          <p:cNvPr id="16" name="Text 13"/>
          <p:cNvSpPr/>
          <p:nvPr/>
        </p:nvSpPr>
        <p:spPr>
          <a:xfrm>
            <a:off x="614363" y="3027055"/>
            <a:ext cx="5807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Cloud-Native:</a:t>
            </a:r>
            <a:endParaRPr lang="en-US" sz="628" dirty="0"/>
          </a:p>
        </p:txBody>
      </p:sp>
      <p:sp>
        <p:nvSpPr>
          <p:cNvPr id="17" name="Text 14"/>
          <p:cNvSpPr/>
          <p:nvPr/>
        </p:nvSpPr>
        <p:spPr>
          <a:xfrm>
            <a:off x="614363" y="3111839"/>
            <a:ext cx="2296520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GCP/AWS para escalabilidade, resiliência e inovação</a:t>
            </a:r>
            <a:endParaRPr lang="en-US" sz="628" dirty="0"/>
          </a:p>
        </p:txBody>
      </p:sp>
      <p:sp>
        <p:nvSpPr>
          <p:cNvPr id="18" name="Shape 15"/>
          <p:cNvSpPr/>
          <p:nvPr/>
        </p:nvSpPr>
        <p:spPr>
          <a:xfrm>
            <a:off x="3288497" y="1164431"/>
            <a:ext cx="2624128" cy="282178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288497" y="1164431"/>
            <a:ext cx="2624128" cy="28217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Abordagem TOGAF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3417084" y="1586919"/>
            <a:ext cx="10283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Arquitetura de Negócio:</a:t>
            </a:r>
            <a:endParaRPr lang="en-US" sz="628" dirty="0"/>
          </a:p>
        </p:txBody>
      </p:sp>
      <p:sp>
        <p:nvSpPr>
          <p:cNvPr id="21" name="Text 18"/>
          <p:cNvSpPr/>
          <p:nvPr/>
        </p:nvSpPr>
        <p:spPr>
          <a:xfrm>
            <a:off x="3417084" y="1635367"/>
            <a:ext cx="2195280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Alinhamento com objetivos de personalização e otimização</a:t>
            </a:r>
            <a:endParaRPr lang="en-US" sz="628" dirty="0"/>
          </a:p>
        </p:txBody>
      </p:sp>
      <p:sp>
        <p:nvSpPr>
          <p:cNvPr id="22" name="Text 19"/>
          <p:cNvSpPr/>
          <p:nvPr/>
        </p:nvSpPr>
        <p:spPr>
          <a:xfrm>
            <a:off x="3417084" y="1946953"/>
            <a:ext cx="9425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Arquitetura de Dados:</a:t>
            </a:r>
            <a:endParaRPr lang="en-US" sz="628" dirty="0"/>
          </a:p>
        </p:txBody>
      </p:sp>
      <p:sp>
        <p:nvSpPr>
          <p:cNvPr id="23" name="Text 20"/>
          <p:cNvSpPr/>
          <p:nvPr/>
        </p:nvSpPr>
        <p:spPr>
          <a:xfrm>
            <a:off x="3417084" y="1995401"/>
            <a:ext cx="2238477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 híbrida (transacional + analítica)</a:t>
            </a:r>
            <a:endParaRPr lang="en-US" sz="628" dirty="0"/>
          </a:p>
        </p:txBody>
      </p:sp>
      <p:sp>
        <p:nvSpPr>
          <p:cNvPr id="24" name="Text 21"/>
          <p:cNvSpPr/>
          <p:nvPr/>
        </p:nvSpPr>
        <p:spPr>
          <a:xfrm>
            <a:off x="3417084" y="2306987"/>
            <a:ext cx="10878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Arquitetura de Aplicação:</a:t>
            </a:r>
            <a:endParaRPr lang="en-US" sz="628" dirty="0"/>
          </a:p>
        </p:txBody>
      </p:sp>
      <p:sp>
        <p:nvSpPr>
          <p:cNvPr id="25" name="Text 22"/>
          <p:cNvSpPr/>
          <p:nvPr/>
        </p:nvSpPr>
        <p:spPr>
          <a:xfrm>
            <a:off x="3417084" y="2355435"/>
            <a:ext cx="2269089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Microsserviços desacoplados e reutilizáveis</a:t>
            </a:r>
            <a:endParaRPr lang="en-US" sz="628" dirty="0"/>
          </a:p>
        </p:txBody>
      </p:sp>
      <p:sp>
        <p:nvSpPr>
          <p:cNvPr id="26" name="Text 23"/>
          <p:cNvSpPr/>
          <p:nvPr/>
        </p:nvSpPr>
        <p:spPr>
          <a:xfrm>
            <a:off x="3417084" y="2667021"/>
            <a:ext cx="8668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Arquitetura Técnica:</a:t>
            </a:r>
            <a:endParaRPr lang="en-US" sz="628" dirty="0"/>
          </a:p>
        </p:txBody>
      </p:sp>
      <p:sp>
        <p:nvSpPr>
          <p:cNvPr id="27" name="Text 24"/>
          <p:cNvSpPr/>
          <p:nvPr/>
        </p:nvSpPr>
        <p:spPr>
          <a:xfrm>
            <a:off x="4306258" y="2667021"/>
            <a:ext cx="15914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Cloud-native com segurança em camadas</a:t>
            </a:r>
            <a:endParaRPr lang="en-US" sz="628" dirty="0"/>
          </a:p>
        </p:txBody>
      </p:sp>
      <p:sp>
        <p:nvSpPr>
          <p:cNvPr id="28" name="Text 25"/>
          <p:cNvSpPr/>
          <p:nvPr/>
        </p:nvSpPr>
        <p:spPr>
          <a:xfrm>
            <a:off x="3417084" y="2889900"/>
            <a:ext cx="5364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Governança:</a:t>
            </a:r>
            <a:endParaRPr lang="en-US" sz="628" dirty="0"/>
          </a:p>
        </p:txBody>
      </p:sp>
      <p:sp>
        <p:nvSpPr>
          <p:cNvPr id="29" name="Text 26"/>
          <p:cNvSpPr/>
          <p:nvPr/>
        </p:nvSpPr>
        <p:spPr>
          <a:xfrm>
            <a:off x="3975860" y="2889900"/>
            <a:ext cx="13409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IAM, OAuth2/JWT, criptografia, WAF</a:t>
            </a:r>
            <a:endParaRPr lang="en-US" sz="628" dirty="0"/>
          </a:p>
        </p:txBody>
      </p:sp>
      <p:sp>
        <p:nvSpPr>
          <p:cNvPr id="30" name="Shape 27"/>
          <p:cNvSpPr/>
          <p:nvPr/>
        </p:nvSpPr>
        <p:spPr>
          <a:xfrm>
            <a:off x="6091219" y="1164431"/>
            <a:ext cx="2624128" cy="282178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091219" y="1164431"/>
            <a:ext cx="2624128" cy="28217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Esperado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6219806" y="1586919"/>
            <a:ext cx="9746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Experiência do Cliente:</a:t>
            </a:r>
            <a:endParaRPr lang="en-US" sz="628" dirty="0"/>
          </a:p>
        </p:txBody>
      </p:sp>
      <p:sp>
        <p:nvSpPr>
          <p:cNvPr id="33" name="Text 30"/>
          <p:cNvSpPr/>
          <p:nvPr/>
        </p:nvSpPr>
        <p:spPr>
          <a:xfrm>
            <a:off x="6219806" y="1671703"/>
            <a:ext cx="2423657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Visão 360° + ofertas personalizadas em tempo real → aumento de engajamento e conversão</a:t>
            </a:r>
            <a:endParaRPr lang="en-US" sz="628" dirty="0"/>
          </a:p>
        </p:txBody>
      </p:sp>
      <p:sp>
        <p:nvSpPr>
          <p:cNvPr id="34" name="Text 31"/>
          <p:cNvSpPr/>
          <p:nvPr/>
        </p:nvSpPr>
        <p:spPr>
          <a:xfrm>
            <a:off x="6219806" y="1946953"/>
            <a:ext cx="10508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Otimização Operacional:</a:t>
            </a:r>
            <a:endParaRPr lang="en-US" sz="628" dirty="0"/>
          </a:p>
        </p:txBody>
      </p:sp>
      <p:sp>
        <p:nvSpPr>
          <p:cNvPr id="35" name="Text 32"/>
          <p:cNvSpPr/>
          <p:nvPr/>
        </p:nvSpPr>
        <p:spPr>
          <a:xfrm>
            <a:off x="6219806" y="2031737"/>
            <a:ext cx="2491969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Cadeia de suprimentos otimizada + análises preditivas → redução de custos</a:t>
            </a:r>
            <a:endParaRPr lang="en-US" sz="628" dirty="0"/>
          </a:p>
        </p:txBody>
      </p:sp>
      <p:sp>
        <p:nvSpPr>
          <p:cNvPr id="36" name="Text 33"/>
          <p:cNvSpPr/>
          <p:nvPr/>
        </p:nvSpPr>
        <p:spPr>
          <a:xfrm>
            <a:off x="6219806" y="2306987"/>
            <a:ext cx="9129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Agilidade e Inovação:</a:t>
            </a:r>
            <a:endParaRPr lang="en-US" sz="628" dirty="0"/>
          </a:p>
        </p:txBody>
      </p:sp>
      <p:sp>
        <p:nvSpPr>
          <p:cNvPr id="37" name="Text 34"/>
          <p:cNvSpPr/>
          <p:nvPr/>
        </p:nvSpPr>
        <p:spPr>
          <a:xfrm>
            <a:off x="6219806" y="2391771"/>
            <a:ext cx="2465208" cy="25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Desenvolvimento rápido de funcionalidades digitais → vantagem competitiva sustentável</a:t>
            </a:r>
            <a:endParaRPr lang="en-US" sz="62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</TotalTime>
  <Words>466</Words>
  <Application>Microsoft Macintosh PowerPoint</Application>
  <PresentationFormat>Apresentação na tela (16:9)</PresentationFormat>
  <Paragraphs>68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Noto Sans</vt:lpstr>
      <vt:lpstr>Office Theme</vt:lpstr>
      <vt:lpstr>Apresentação do PowerPoint</vt:lpstr>
      <vt:lpstr>Apresentação do PowerPoint</vt:lpstr>
      <vt:lpstr>Apresentação do PowerPoint</vt:lpstr>
    </vt:vector>
  </TitlesOfParts>
  <Manager/>
  <Company>Pessoal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Aprentação Renault</dc:title>
  <dc:subject>PptxGenJS Presentation</dc:subject>
  <dc:creator>Paulo Marne</dc:creator>
  <cp:keywords/>
  <dc:description/>
  <cp:lastModifiedBy>Paulo Marne Bastos</cp:lastModifiedBy>
  <cp:revision>4</cp:revision>
  <dcterms:created xsi:type="dcterms:W3CDTF">2025-10-17T19:04:56Z</dcterms:created>
  <dcterms:modified xsi:type="dcterms:W3CDTF">2026-05-22T21:02:03Z</dcterms:modified>
  <cp:category/>
</cp:coreProperties>
</file>